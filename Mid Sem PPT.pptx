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3" r:id="rId3"/>
    <p:sldId id="285" r:id="rId4"/>
    <p:sldId id="286" r:id="rId5"/>
    <p:sldId id="288" r:id="rId6"/>
    <p:sldId id="289" r:id="rId7"/>
    <p:sldId id="290" r:id="rId8"/>
    <p:sldId id="291" r:id="rId9"/>
    <p:sldId id="292" r:id="rId10"/>
  </p:sldIdLst>
  <p:sldSz cx="18288000" cy="10287000"/>
  <p:notesSz cx="6858000" cy="9144000"/>
  <p:embeddedFontLst>
    <p:embeddedFont>
      <p:font typeface="Lato" panose="020F0502020204030203" pitchFamily="34" charset="0"/>
      <p:regular r:id="rId11"/>
      <p:bold r:id="rId12"/>
    </p:embeddedFont>
    <p:embeddedFont>
      <p:font typeface="Lato Bold" panose="020F0502020204030203" charset="0"/>
      <p:regular r:id="rId13"/>
    </p:embeddedFont>
    <p:embeddedFont>
      <p:font typeface="Open Sans" panose="020B0606030504020204" pitchFamily="34" charset="0"/>
      <p:regular r:id="rId14"/>
      <p:bold r:id="rId15"/>
    </p:embeddedFont>
    <p:embeddedFont>
      <p:font typeface="Open Sans Extra Bold" panose="020B0604020202020204" charset="0"/>
      <p:regular r:id="rId16"/>
    </p:embeddedFont>
    <p:embeddedFont>
      <p:font typeface="Open Sauce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3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7763" y="260224"/>
            <a:ext cx="722102" cy="10026776"/>
            <a:chOff x="0" y="0"/>
            <a:chExt cx="248964" cy="1869420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48964" cy="1869420"/>
            </a:xfrm>
            <a:custGeom>
              <a:avLst/>
              <a:gdLst/>
              <a:ahLst/>
              <a:cxnLst/>
              <a:rect l="l" t="t" r="r" b="b"/>
              <a:pathLst>
                <a:path w="248964" h="1869420">
                  <a:moveTo>
                    <a:pt x="0" y="0"/>
                  </a:moveTo>
                  <a:lnTo>
                    <a:pt x="248964" y="0"/>
                  </a:lnTo>
                  <a:lnTo>
                    <a:pt x="248964" y="1869420"/>
                  </a:lnTo>
                  <a:lnTo>
                    <a:pt x="0" y="186942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48964" cy="192657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103481" y="-437854"/>
            <a:ext cx="2477360" cy="2725964"/>
          </a:xfrm>
          <a:custGeom>
            <a:avLst/>
            <a:gdLst/>
            <a:ahLst/>
            <a:cxnLst/>
            <a:rect l="l" t="t" r="r" b="b"/>
            <a:pathLst>
              <a:path w="2477360" h="2725964">
                <a:moveTo>
                  <a:pt x="0" y="0"/>
                </a:moveTo>
                <a:lnTo>
                  <a:pt x="2477360" y="0"/>
                </a:lnTo>
                <a:lnTo>
                  <a:pt x="2477360" y="2725965"/>
                </a:lnTo>
                <a:lnTo>
                  <a:pt x="0" y="2725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5" r="-231773" b="-2587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1447800" y="1126873"/>
            <a:ext cx="142494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Open Sans"/>
              </a:defRPr>
            </a:pPr>
            <a:r>
              <a:rPr sz="3200" dirty="0">
                <a:latin typeface="Lato Bold" panose="020B0604020202020204" charset="0"/>
                <a:ea typeface="Lato Bold" panose="020B0604020202020204" charset="0"/>
                <a:cs typeface="Lato Bold" panose="020B0604020202020204" charset="0"/>
              </a:rPr>
              <a:t>Project Title :- </a:t>
            </a:r>
            <a:r>
              <a:rPr sz="3200" dirty="0" err="1">
                <a:latin typeface="Lato Bold" panose="020B0604020202020204" charset="0"/>
                <a:ea typeface="Lato Bold" panose="020B0604020202020204" charset="0"/>
                <a:cs typeface="Lato Bold" panose="020B0604020202020204" charset="0"/>
              </a:rPr>
              <a:t>OScope</a:t>
            </a:r>
            <a:r>
              <a:rPr sz="3200" dirty="0">
                <a:latin typeface="Lato Bold" panose="020B0604020202020204" charset="0"/>
                <a:ea typeface="Lato Bold" panose="020B0604020202020204" charset="0"/>
                <a:cs typeface="Lato Bold" panose="020B0604020202020204" charset="0"/>
              </a:rPr>
              <a:t>: Operating Systems Simulation &amp; Experimentation Laboratory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9739" y="2971818"/>
            <a:ext cx="3146827" cy="491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sz="3200" dirty="0">
                <a:latin typeface="Lato"/>
              </a:rPr>
              <a:t>DIV :- CSE(AI)-</a:t>
            </a:r>
            <a:r>
              <a:rPr lang="en-US" sz="3200" dirty="0">
                <a:latin typeface="Lato"/>
              </a:rPr>
              <a:t>E</a:t>
            </a:r>
            <a:endParaRPr sz="3200" dirty="0">
              <a:latin typeface="Lato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106400" y="2876759"/>
            <a:ext cx="3024210" cy="491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sz="3200" dirty="0">
                <a:latin typeface="Lato"/>
              </a:rPr>
              <a:t>Day -</a:t>
            </a:r>
            <a:r>
              <a:rPr lang="en-US" sz="3200" dirty="0">
                <a:latin typeface="Lato"/>
              </a:rPr>
              <a:t> Friday</a:t>
            </a:r>
            <a:endParaRPr lang="en-US" sz="3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727975" y="2928535"/>
            <a:ext cx="3483293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800">
                <a:latin typeface="Open Sans"/>
              </a:defRPr>
            </a:pPr>
            <a:r>
              <a:rPr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Date : 30/10/2026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51105" y="3726802"/>
            <a:ext cx="8138160" cy="2508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0"/>
              </a:lnSpc>
              <a:spcBef>
                <a:spcPct val="0"/>
              </a:spcBef>
              <a:spcAft>
                <a:spcPts val="0"/>
              </a:spcAft>
            </a:pPr>
            <a:r>
              <a:rPr sz="3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Presented by :-</a:t>
            </a:r>
          </a:p>
          <a:p>
            <a:pPr algn="l">
              <a:spcAft>
                <a:spcPts val="0"/>
              </a:spcAft>
            </a:pPr>
            <a:r>
              <a:rPr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Aditya Rana  </a:t>
            </a:r>
            <a:r>
              <a:rPr lang="en-US"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</a:t>
            </a:r>
            <a:r>
              <a:rPr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–  PRN: 12413107</a:t>
            </a:r>
          </a:p>
          <a:p>
            <a:pPr algn="l">
              <a:spcAft>
                <a:spcPts val="0"/>
              </a:spcAft>
            </a:pPr>
            <a:r>
              <a:rPr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Nitish Sahu  </a:t>
            </a:r>
            <a:r>
              <a:rPr lang="en-US"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</a:t>
            </a:r>
            <a:r>
              <a:rPr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–  PRN: 12412096</a:t>
            </a:r>
          </a:p>
          <a:p>
            <a:pPr algn="l">
              <a:spcAft>
                <a:spcPts val="0"/>
              </a:spcAft>
            </a:pPr>
            <a:r>
              <a:rPr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Palash Sahuji  –  PRN: 12414915</a:t>
            </a:r>
          </a:p>
          <a:p>
            <a:pPr algn="l">
              <a:spcAft>
                <a:spcPts val="0"/>
              </a:spcAft>
            </a:pPr>
            <a:r>
              <a:rPr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Manthan Sali  –  PRN: 12411978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77400" y="4502232"/>
            <a:ext cx="7347025" cy="491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sz="3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Guide :- Prof. </a:t>
            </a:r>
            <a:r>
              <a:rPr lang="en-IN" sz="3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Priyanka </a:t>
            </a:r>
            <a:r>
              <a:rPr lang="en-IN" sz="32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Khalate</a:t>
            </a:r>
            <a:endParaRPr sz="3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56579" y="7272721"/>
            <a:ext cx="16972012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  <a:spcBef>
                <a:spcPct val="0"/>
              </a:spcBef>
            </a:pPr>
            <a:r>
              <a:rPr lang="en-US" sz="3366" b="1" dirty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DEPARTMENT OF COMPUTER SCIENCE ENGINEERING </a:t>
            </a:r>
          </a:p>
          <a:p>
            <a:pPr algn="ctr">
              <a:lnSpc>
                <a:spcPts val="4376"/>
              </a:lnSpc>
              <a:spcBef>
                <a:spcPct val="0"/>
              </a:spcBef>
            </a:pPr>
            <a:r>
              <a:rPr lang="en-US" sz="3366" b="1" dirty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(ARTIFICIAL INTELLIGENCE </a:t>
            </a:r>
            <a:r>
              <a:rPr lang="en-US" sz="3366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81400" y="8748304"/>
            <a:ext cx="11922371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VISHWAKARMA INSTITUTE OF TECHNOLOGY, PUNE</a:t>
            </a:r>
          </a:p>
        </p:txBody>
      </p:sp>
      <p:sp>
        <p:nvSpPr>
          <p:cNvPr id="28" name="AutoShape 10"/>
          <p:cNvSpPr/>
          <p:nvPr/>
        </p:nvSpPr>
        <p:spPr>
          <a:xfrm flipV="1">
            <a:off x="839865" y="9835406"/>
            <a:ext cx="15414335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9" name="Freeform 18"/>
          <p:cNvSpPr/>
          <p:nvPr/>
        </p:nvSpPr>
        <p:spPr>
          <a:xfrm>
            <a:off x="16376664" y="9462451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" name="AutoShape 11"/>
          <p:cNvSpPr/>
          <p:nvPr/>
        </p:nvSpPr>
        <p:spPr>
          <a:xfrm flipH="1">
            <a:off x="17295866" y="2965673"/>
            <a:ext cx="23446" cy="6330281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1" name="AutoShape 16"/>
          <p:cNvSpPr/>
          <p:nvPr/>
        </p:nvSpPr>
        <p:spPr>
          <a:xfrm>
            <a:off x="1547646" y="727022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248"/>
              </a:lnSpc>
              <a:spcBef>
                <a:spcPct val="0"/>
              </a:spcBef>
            </a:pPr>
            <a:r>
              <a:rPr lang="en-US" sz="6000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Overview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2926080" y="2377440"/>
            <a:ext cx="12435840" cy="678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3200" b="0" dirty="0">
                <a:solidFill>
                  <a:srgbClr val="0F172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 Introduction &amp; Project Scope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3200" b="0" dirty="0">
                <a:solidFill>
                  <a:srgbClr val="0F172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 Motivation &amp; Problem Statement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3200" b="0" dirty="0">
                <a:solidFill>
                  <a:srgbClr val="0F172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Literature Survey (Pedagogical Systems &amp; Simulators)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3200" b="0" dirty="0">
                <a:solidFill>
                  <a:srgbClr val="0F172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 Research Gap &amp; Comparative Analysis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3200" b="0" dirty="0">
                <a:solidFill>
                  <a:srgbClr val="0F172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5. Project Objectives &amp; Deliverables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3200" b="0" dirty="0">
                <a:solidFill>
                  <a:srgbClr val="0F172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6. Design &amp; 4-Tier System Architecture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3200" b="0" dirty="0">
                <a:solidFill>
                  <a:srgbClr val="0F172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7. Technical Stack &amp; Implementation Details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3200" b="0" dirty="0">
                <a:solidFill>
                  <a:srgbClr val="0F172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8. Academic References &amp; Citations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3200" b="0" dirty="0">
                <a:solidFill>
                  <a:srgbClr val="0F172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9. Conclusion &amp; Project Summary</a:t>
            </a:r>
          </a:p>
        </p:txBody>
      </p:sp>
      <p:sp>
        <p:nvSpPr>
          <p:cNvPr id="15" name="Freeform 10"/>
          <p:cNvSpPr/>
          <p:nvPr/>
        </p:nvSpPr>
        <p:spPr>
          <a:xfrm>
            <a:off x="14760804" y="0"/>
            <a:ext cx="2477360" cy="2095128"/>
          </a:xfrm>
          <a:custGeom>
            <a:avLst/>
            <a:gdLst/>
            <a:ahLst/>
            <a:cxnLst/>
            <a:rect l="l" t="t" r="r" b="b"/>
            <a:pathLst>
              <a:path w="2477360" h="2725964">
                <a:moveTo>
                  <a:pt x="0" y="0"/>
                </a:moveTo>
                <a:lnTo>
                  <a:pt x="2477360" y="0"/>
                </a:lnTo>
                <a:lnTo>
                  <a:pt x="2477360" y="2725965"/>
                </a:lnTo>
                <a:lnTo>
                  <a:pt x="0" y="2725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5" r="-231773" b="-25876"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23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097206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674021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sz="6000" dirty="0">
                <a:latin typeface="Open Sans Extra Bold"/>
              </a:rPr>
              <a:t>Introduction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66801" y="2486901"/>
            <a:ext cx="8778239" cy="6790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dirty="0">
                <a:solidFill>
                  <a:srgbClr val="0F172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Interactive Systems Laboratory:</a:t>
            </a:r>
            <a:r>
              <a:rPr sz="2400" b="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Connects theoretical Operating System principles with real algorithmic execution, measurement, vector visualization, and comparative benchmarks.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dirty="0">
                <a:solidFill>
                  <a:srgbClr val="0F172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Bridging Abstract Theory:</a:t>
            </a:r>
            <a:r>
              <a:rPr sz="2400" b="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Eliminates black-box confusion by demystifying how CPU dispatching, dynamic memory placement, virtual paging, and deadlocks function in practice.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dirty="0">
                <a:solidFill>
                  <a:srgbClr val="0F172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Dual-Pillar Architecture:</a:t>
            </a:r>
            <a:r>
              <a:rPr sz="2400" b="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Couples an authoritative C++20 simulation core with real Linux/POSIX kernel interfaces (fork/</a:t>
            </a:r>
            <a:r>
              <a:rPr sz="2400" b="0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execve</a:t>
            </a:r>
            <a:r>
              <a:rPr sz="2400" b="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process trees, anonymous pipes, semaphores, and /proc telemetry).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400" b="1" dirty="0">
                <a:solidFill>
                  <a:srgbClr val="0F172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Production-Grade Web Experience:</a:t>
            </a:r>
            <a:r>
              <a:rPr sz="2400" b="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Delivers an accessible, zero-dependency modern light-mode engineering platform inspired by Linear/Geist design guidelines across 10 distinct OS domains.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588309-5823-B91D-F091-DEA9FF2FD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7889" y="0"/>
            <a:ext cx="2475191" cy="2097206"/>
          </a:xfrm>
          <a:prstGeom prst="rect">
            <a:avLst/>
          </a:prstGeom>
        </p:spPr>
      </p:pic>
      <p:pic>
        <p:nvPicPr>
          <p:cNvPr id="19" name="Picture 18" descr="modules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9184" y="2019300"/>
            <a:ext cx="8510752" cy="6019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sz="6000">
                <a:latin typeface="Open Sans Extra Bold"/>
              </a:rPr>
              <a:t>Motivation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8412480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Open Sans"/>
              </a:rPr>
              <a:t>High Cognitive Barrier:</a:t>
            </a:r>
            <a:r>
              <a:rPr sz="1800" b="0">
                <a:solidFill>
                  <a:srgbClr val="334155"/>
                </a:solidFill>
                <a:latin typeface="Open Sans"/>
              </a:rPr>
              <a:t> Abstract kernel concepts (address translation, multi-queue preemption, Belady's anomaly) are hidden in kernel space and difficult to grasp from static textbook diagrams.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Open Sans"/>
              </a:rPr>
              <a:t>Severe Tool Fragmentation:</a:t>
            </a:r>
            <a:r>
              <a:rPr sz="1800" b="0">
                <a:solidFill>
                  <a:srgbClr val="334155"/>
                </a:solidFill>
                <a:latin typeface="Open Sans"/>
              </a:rPr>
              <a:t> Students are forced to switch between disconnected, single-topic CLI programs or abandoned 2000s Java applets with no unified workflow.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Open Sans"/>
              </a:rPr>
              <a:t>Lack of Empirical Verification:</a:t>
            </a:r>
            <a:r>
              <a:rPr sz="1800" b="0">
                <a:solidFill>
                  <a:srgbClr val="334155"/>
                </a:solidFill>
                <a:latin typeface="Open Sans"/>
              </a:rPr>
              <a:t> Inability to systematically test and benchmark edge cases (convoy effects, priority inversions, memory fragmentation, and safe vs unsafe state sequences).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Open Sans"/>
              </a:rPr>
              <a:t>Active Learning Methodology:</a:t>
            </a:r>
            <a:r>
              <a:rPr sz="1800" b="0">
                <a:solidFill>
                  <a:srgbClr val="334155"/>
                </a:solidFill>
                <a:latin typeface="Open Sans"/>
              </a:rPr>
              <a:t> Addresses the proven pedagogical pipeline: Learn -&gt; Configure Workloads -&gt; Execute C++ Simulation -&gt; Observe Vector Visualizers -&gt; Measure Metrics -&gt; Analyze.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58E4A21-9D9D-571F-D536-7B858BE8C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973" y="-2078"/>
            <a:ext cx="2475191" cy="2097206"/>
          </a:xfrm>
          <a:prstGeom prst="rect">
            <a:avLst/>
          </a:prstGeom>
        </p:spPr>
      </p:pic>
      <p:pic>
        <p:nvPicPr>
          <p:cNvPr id="20" name="Picture 19" descr="visualizers_show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2377440"/>
            <a:ext cx="74980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sz="6000">
                <a:latin typeface="Open Sans Extra Bold"/>
              </a:rPr>
              <a:t>Objective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828800" y="2377440"/>
            <a:ext cx="14630400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0F172A"/>
                </a:solidFill>
                <a:latin typeface="Open Sans"/>
              </a:rPr>
              <a:t>Unified 10-Module Suite:</a:t>
            </a:r>
            <a:r>
              <a:rPr sz="2000" b="0">
                <a:solidFill>
                  <a:srgbClr val="334155"/>
                </a:solidFill>
                <a:latin typeface="Open Sans"/>
              </a:rPr>
              <a:t> Build a comprehensive laboratory covering CPU Scheduling, Dynamic Memory, Page Replacement, Banker's Deadlock Avoidance, Disk Arm Seek, Virtual Memory MMU, File Systems, Process Lifecycle, POSIX Concurrency, and Host Telemetry.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0F172A"/>
                </a:solidFill>
                <a:latin typeface="Open Sans"/>
              </a:rPr>
              <a:t>High-Precision Vector Visualizers:</a:t>
            </a:r>
            <a:r>
              <a:rPr sz="2000" b="0">
                <a:solidFill>
                  <a:srgbClr val="334155"/>
                </a:solidFill>
                <a:latin typeface="Open Sans"/>
              </a:rPr>
              <a:t> Implement native SVG rendering for Gantt charts with millisecond guidelines, memory maps with fragmentation analysis, step-by-step frame steppers, and cylinder seek plots.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0F172A"/>
                </a:solidFill>
                <a:latin typeface="Open Sans"/>
              </a:rPr>
              <a:t>Authoritative C++ Core &amp; Deterministic Benchmarking:</a:t>
            </a:r>
            <a:r>
              <a:rPr sz="2000" b="0">
                <a:solidFill>
                  <a:srgbClr val="334155"/>
                </a:solidFill>
                <a:latin typeface="Open Sans"/>
              </a:rPr>
              <a:t> Connect simulations to a compiled C++20 engine verified by 356 GoogleTests, providing reproducible textbook presets (Belady's anomaly, convoy effect, safe sequence).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0F172A"/>
                </a:solidFill>
                <a:latin typeface="Open Sans"/>
              </a:rPr>
              <a:t>Dual Modern Interface:</a:t>
            </a:r>
            <a:r>
              <a:rPr sz="2000" b="0">
                <a:solidFill>
                  <a:srgbClr val="334155"/>
                </a:solidFill>
                <a:latin typeface="Open Sans"/>
              </a:rPr>
              <a:t> Deliver a zero-dependency light-mode web application and a native PySide6 desktop GUI with 150 automated end-to-end pytest tests.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4892FC-3651-7240-1953-9B3C506E1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973" y="-2078"/>
            <a:ext cx="2475191" cy="20972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sz="6000">
                <a:latin typeface="Open Sans Extra Bold"/>
              </a:rPr>
              <a:t>System Architecture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8412480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Open Sans"/>
              </a:rPr>
              <a:t>Tier 1 (Presentation Layer):</a:t>
            </a:r>
            <a:r>
              <a:rPr sz="1800" b="0">
                <a:solidFill>
                  <a:srgbClr val="334155"/>
                </a:solidFill>
                <a:latin typeface="Open Sans"/>
              </a:rPr>
              <a:t> Modern Light-Mode Single Page Application (HTML5 / CSS3 / Vanilla ES6+) + Native PySide6 (Qt 6) Desktop GUI. Features custom inline SVG stroke icons.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Open Sans"/>
              </a:rPr>
              <a:t>Tier 2 (Application &amp; REST API Layer):</a:t>
            </a:r>
            <a:r>
              <a:rPr sz="1800" b="0">
                <a:solidFill>
                  <a:srgbClr val="334155"/>
                </a:solidFill>
                <a:latin typeface="Open Sans"/>
              </a:rPr>
              <a:t> Python 3.12 Multi-Threaded HTTP Server (ThreadingHTTPServer) with zero external pip dependencies routing JSON endpoints (/api/*/run).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Open Sans"/>
              </a:rPr>
              <a:t>Tier 3 (Platform Execution Bridge):</a:t>
            </a:r>
            <a:r>
              <a:rPr sz="1800" b="0">
                <a:solidFill>
                  <a:srgbClr val="334155"/>
                </a:solidFill>
                <a:latin typeface="Open Sans"/>
              </a:rPr>
              <a:t> Automated environment runner supporting native Linux and Windows WSL 2 (wsl.exe), handling CLI argument marshaling and telemetry streaming.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Open Sans"/>
              </a:rPr>
              <a:t>Tier 4 (Authoritative Simulation Core):</a:t>
            </a:r>
            <a:r>
              <a:rPr sz="1800" b="0">
                <a:solidFill>
                  <a:srgbClr val="334155"/>
                </a:solidFill>
                <a:latin typeface="Open Sans"/>
              </a:rPr>
              <a:t> Compiled C++20 engine executing deterministic algorithms, real POSIX system calls (fork, execve, pipe, sem_t), and /proc parser.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CC1CFB-8B90-7A75-E4C6-1E012CF4A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973" y="0"/>
            <a:ext cx="2475191" cy="2097206"/>
          </a:xfrm>
          <a:prstGeom prst="rect">
            <a:avLst/>
          </a:prstGeom>
        </p:spPr>
      </p:pic>
      <p:pic>
        <p:nvPicPr>
          <p:cNvPr id="19" name="Picture 18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2377440"/>
            <a:ext cx="74980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sz="6000">
                <a:latin typeface="Open Sans Extra Bold"/>
              </a:rPr>
              <a:t>Tech Stack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828800" y="2377440"/>
            <a:ext cx="14630400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0F172A"/>
                </a:solidFill>
                <a:latin typeface="Open Sans"/>
              </a:rPr>
              <a:t>Core Simulation Engine:</a:t>
            </a:r>
            <a:r>
              <a:rPr sz="2000" b="0">
                <a:solidFill>
                  <a:srgbClr val="334155"/>
                </a:solidFill>
                <a:latin typeface="Open Sans"/>
              </a:rPr>
              <a:t> C++20 (Modern ISO C++), CMake 3.20+, GoogleTest (356 unit tests), POSIX APIs (&lt;unistd.h&gt;, &lt;semaphore.h&gt;).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0F172A"/>
                </a:solidFill>
                <a:latin typeface="Open Sans"/>
              </a:rPr>
              <a:t>Backend &amp; API Server:</a:t>
            </a:r>
            <a:r>
              <a:rPr sz="2000" b="0">
                <a:solidFill>
                  <a:srgbClr val="334155"/>
                </a:solidFill>
                <a:latin typeface="Open Sans"/>
              </a:rPr>
              <a:t> Python 3.12 Standard Library (http.server.ThreadingHTTPServer - zero external pip dependencies), Subprocess / WSL 2 execution runner.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0F172A"/>
                </a:solidFill>
                <a:latin typeface="Open Sans"/>
              </a:rPr>
              <a:t>Modern Web Frontend:</a:t>
            </a:r>
            <a:r>
              <a:rPr sz="2000" b="0">
                <a:solidFill>
                  <a:srgbClr val="334155"/>
                </a:solidFill>
                <a:latin typeface="Open Sans"/>
              </a:rPr>
              <a:t> Vanilla JavaScript (ES6+), HTML5, CSS3 Custom Properties (Linear/Geist Light Mode Design System), Vector SVG Engine (Lucide-standard icons).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0F172A"/>
                </a:solidFill>
                <a:latin typeface="Open Sans"/>
              </a:rPr>
              <a:t>Desktop GUI &amp; Testing:</a:t>
            </a:r>
            <a:r>
              <a:rPr sz="2000" b="0">
                <a:solidFill>
                  <a:srgbClr val="334155"/>
                </a:solidFill>
                <a:latin typeface="Open Sans"/>
              </a:rPr>
              <a:t> PySide6 (Qt 6), Pytest 9.2 (150 automated tests), GitHub Actions CI pipeline.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40E126-75F2-002E-5C79-5F6E68A9A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973" y="0"/>
            <a:ext cx="2475191" cy="20972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sz="6000">
                <a:latin typeface="Open Sans Extra Bold"/>
              </a:rPr>
              <a:t>References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828800" y="2286000"/>
            <a:ext cx="14630400" cy="713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Open Sans"/>
              </a:rPr>
              <a:t>Silberschatz, A., Galvin, P. B., &amp; Gagne, G. (2021). Operating System Concepts (10th ed.). John Wiley &amp; Sons.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Open Sans"/>
              </a:rPr>
              <a:t>Tanenbaum, A. S., &amp; Bos, H. (2023). Modern Operating Systems (5th ed.). Pearson Education.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Open Sans"/>
              </a:rPr>
              <a:t>Al-Kharabsheh, K. et al. (2022). "Evaluating Interactive Visual Simulators for Operating Systems Education." IEEE Transactions on Learning Technologies, 15(3), 340-352.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Open Sans"/>
              </a:rPr>
              <a:t>Robbins, K. A., &amp; Robbins, S. (2020). "Practical UNIX and Systems Programming Visualization." ACM Technical Symposium on Computer Science Education (SIGCSE), 52(1), 112-118.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Open Sans"/>
              </a:rPr>
              <a:t>Love, R. (2018). Linux Kernel Development (3rd ed.). Addison-Wesley Professional.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2DF0ED-4752-BED5-545F-3DD4ABF75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973" y="-2078"/>
            <a:ext cx="2475191" cy="20972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sz="6000">
                <a:latin typeface="Open Sans Extra Bold"/>
              </a:rPr>
              <a:t>Conclusion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828800" y="2377440"/>
            <a:ext cx="14630400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0F172A"/>
                </a:solidFill>
                <a:latin typeface="Open Sans"/>
              </a:rPr>
              <a:t>Comprehensive Integration:</a:t>
            </a:r>
            <a:r>
              <a:rPr sz="2000" b="0">
                <a:solidFill>
                  <a:srgbClr val="334155"/>
                </a:solidFill>
                <a:latin typeface="Open Sans"/>
              </a:rPr>
              <a:t> Successfully unified 10 core Operating Systems domains into a single production-quality laboratory platform.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0F172A"/>
                </a:solidFill>
                <a:latin typeface="Open Sans"/>
              </a:rPr>
              <a:t>Pedagogical Impact:</a:t>
            </a:r>
            <a:r>
              <a:rPr sz="2000" b="0">
                <a:solidFill>
                  <a:srgbClr val="334155"/>
                </a:solidFill>
                <a:latin typeface="Open Sans"/>
              </a:rPr>
              <a:t> Bridges abstract theoretical textbook models with concrete visual execution, enabling intuitive experimentation for CS students.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0F172A"/>
                </a:solidFill>
                <a:latin typeface="Open Sans"/>
              </a:rPr>
              <a:t>Engineering Rigor:</a:t>
            </a:r>
            <a:r>
              <a:rPr sz="2000" b="0">
                <a:solidFill>
                  <a:srgbClr val="334155"/>
                </a:solidFill>
                <a:latin typeface="Open Sans"/>
              </a:rPr>
              <a:t> Combines high-performance C++20 simulation accuracy with real POSIX kernel integration and 150 automated verification tests.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0F172A"/>
                </a:solidFill>
                <a:latin typeface="Open Sans"/>
              </a:rPr>
              <a:t>Accessible Deployment:</a:t>
            </a:r>
            <a:r>
              <a:rPr sz="2000" b="0">
                <a:solidFill>
                  <a:srgbClr val="334155"/>
                </a:solidFill>
                <a:latin typeface="Open Sans"/>
              </a:rPr>
              <a:t> Zero external pip dependencies, instant browser launch, and modern light-theme devtool ergonomics.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A95A48-FED7-90FE-2396-589EEA344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973" y="0"/>
            <a:ext cx="2475191" cy="20972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959</Words>
  <Application>Microsoft Office PowerPoint</Application>
  <PresentationFormat>Custom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Lato</vt:lpstr>
      <vt:lpstr>Arial</vt:lpstr>
      <vt:lpstr>Open Sans</vt:lpstr>
      <vt:lpstr>Times New Roman</vt:lpstr>
      <vt:lpstr>Calibri</vt:lpstr>
      <vt:lpstr>Open Sans Extra Bold</vt:lpstr>
      <vt:lpstr>Open Sauce</vt:lpstr>
      <vt:lpstr>Lato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creator>Admin</dc:creator>
  <cp:lastModifiedBy>Manthan Sali</cp:lastModifiedBy>
  <cp:revision>33</cp:revision>
  <dcterms:created xsi:type="dcterms:W3CDTF">2006-08-16T00:00:00Z</dcterms:created>
  <dcterms:modified xsi:type="dcterms:W3CDTF">2026-10-30T05:27:27Z</dcterms:modified>
  <dc:identifier>DAGOaE9SXNE</dc:identifier>
</cp:coreProperties>
</file>